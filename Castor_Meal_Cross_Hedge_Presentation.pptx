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00000"/>
                </a:solidFill>
                <a:latin typeface="Calibri"/>
              </a:defRPr>
            </a:pPr>
            <a:r>
              <a:rPr lang="en-US" sz="1400" b="0" i="0" u="none" strike="noStrike">
                <a:solidFill>
                  <a:srgbClr val="000000"/>
                </a:solidFill>
                <a:latin typeface="Calibri"/>
              </a:rPr>
              <a:t>Hedge effectiveness (% of variance removed)</a:t>
            </a:r>
          </a:p>
        </c:rich>
      </c:tx>
      <c:overlay val="0"/>
    </c:title>
    <c:autoTitleDeleted val="0"/>
    <c:plotArea>
      <c:layout/>
      <c:barChart>
        <c:barDir val="col"/>
        <c:grouping val="clustered"/>
        <c:varyColors val="0"/>
        <c:ser>
          <c:idx val="0"/>
          <c:order val="0"/>
          <c:tx>
            <c:strRef>
              <c:f>Sheet1!$B$1</c:f>
              <c:strCache>
                <c:ptCount val="1"/>
                <c:pt idx="0">
                  <c:v>In-sample (n = 275)</c:v>
                </c:pt>
              </c:strCache>
            </c:strRef>
          </c:tx>
          <c:spPr>
            <a:solidFill>
              <a:srgbClr val="262626"/>
            </a:solidFill>
            <a:effectLst/>
          </c:spPr>
          <c:invertIfNegative val="0"/>
          <c:dLbls>
            <c:numFmt formatCode="0.0" sourceLinked="0"/>
            <c:spPr>
              <a:noFill/>
              <a:ln>
                <a:noFill/>
              </a:ln>
              <a:effectLst/>
            </c:spPr>
            <c:txPr>
              <a:bodyPr/>
              <a:lstStyle/>
              <a:p>
                <a:pPr>
                  <a:defRPr sz="11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OLS</c:v>
                </c:pt>
                <c:pt idx="1">
                  <c:v>Naive (h = 1)</c:v>
                </c:pt>
                <c:pt idx="2">
                  <c:v>GARCH</c:v>
                </c:pt>
              </c:strCache>
            </c:strRef>
          </c:cat>
          <c:val>
            <c:numRef>
              <c:f>Sheet1!$B$2:$B$4</c:f>
              <c:numCache>
                <c:formatCode>General</c:formatCode>
                <c:ptCount val="3"/>
                <c:pt idx="0">
                  <c:v>6.79</c:v>
                </c:pt>
                <c:pt idx="1">
                  <c:v>4.0999999999999996</c:v>
                </c:pt>
                <c:pt idx="2">
                  <c:v>6.99</c:v>
                </c:pt>
              </c:numCache>
            </c:numRef>
          </c:val>
          <c:extLst>
            <c:ext xmlns:c16="http://schemas.microsoft.com/office/drawing/2014/chart" uri="{C3380CC4-5D6E-409C-BE32-E72D297353CC}">
              <c16:uniqueId val="{00000000-7C0E-4164-8642-5E7AFBC9D0F9}"/>
            </c:ext>
          </c:extLst>
        </c:ser>
        <c:ser>
          <c:idx val="1"/>
          <c:order val="1"/>
          <c:tx>
            <c:strRef>
              <c:f>Sheet1!$C$1</c:f>
              <c:strCache>
                <c:ptCount val="1"/>
                <c:pt idx="0">
                  <c:v>Out-of-sample (n = 221)</c:v>
                </c:pt>
              </c:strCache>
            </c:strRef>
          </c:tx>
          <c:spPr>
            <a:solidFill>
              <a:srgbClr val="A6A6A6"/>
            </a:solidFill>
            <a:effectLst/>
          </c:spPr>
          <c:invertIfNegative val="0"/>
          <c:dLbls>
            <c:numFmt formatCode="0.0" sourceLinked="0"/>
            <c:spPr>
              <a:noFill/>
              <a:ln>
                <a:noFill/>
              </a:ln>
              <a:effectLst/>
            </c:spPr>
            <c:txPr>
              <a:bodyPr/>
              <a:lstStyle/>
              <a:p>
                <a:pPr>
                  <a:defRPr sz="11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OLS</c:v>
                </c:pt>
                <c:pt idx="1">
                  <c:v>Naive (h = 1)</c:v>
                </c:pt>
                <c:pt idx="2">
                  <c:v>GARCH</c:v>
                </c:pt>
              </c:strCache>
            </c:strRef>
          </c:cat>
          <c:val>
            <c:numRef>
              <c:f>Sheet1!$C$2:$C$4</c:f>
              <c:numCache>
                <c:formatCode>General</c:formatCode>
                <c:ptCount val="3"/>
                <c:pt idx="0">
                  <c:v>6.59</c:v>
                </c:pt>
                <c:pt idx="1">
                  <c:v>4.26</c:v>
                </c:pt>
                <c:pt idx="2">
                  <c:v>7.02</c:v>
                </c:pt>
              </c:numCache>
            </c:numRef>
          </c:val>
          <c:extLst>
            <c:ext xmlns:c16="http://schemas.microsoft.com/office/drawing/2014/chart" uri="{C3380CC4-5D6E-409C-BE32-E72D297353CC}">
              <c16:uniqueId val="{00000001-7C0E-4164-8642-5E7AFBC9D0F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max val="8"/>
          <c:min val="0"/>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F7F7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7252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castor meal as the asset to hedge because there is no castor meal futures contract on NCDEX, so a direct hedge is not possible. NCDEX does trade castor seed futures, and castor meal is what is left after oil is extracted from castor seed, so the two prices are economically linked. Because the futures are on a related commodity and not on castor meal itself, this is a cross-hedge. My aim was to estimate the hedge ratio, measure how much price risk it removes in the estimation period, and then test the same hedge on a later period it had not seen.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futures data come from NCDEX's daily bhavcopy files, which list every contract's closing price, volume and open interest. The castor meal price comes from the Solvent Extractors' Association of India, because NCDEX does not publish a castor meal price. I collected 744 trading days of futures data and 647 SEA posts, and 546 of those posts gave a usable price. Posts were set aside only for fixed reasons such as a wrong date, a duplicate or an obvious typing error. I then matched the two series: a daily return is used only when two consecutive trading days both have published prices, and I never filled in or estimated a price. That gave 496 daily log returns, which I split by date into 275 for estimating the hedge and 221 for testing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futures contract expires every month, so to get three years of data I had to join 36 contracts. The course reading Continuous Contracts Explained points out two problems. If you switch only at expiry, you hold a contract when trading is thin and delivery can be forced. And when you join contracts, the price difference between the old and new contract looks like a jump that never happened in the market. I switched to the next contract when its open interest became larger, which is the method in the paper. I added two things myself: open interest is only published after the close, so I switch the next day, and if the switch has not happened with seven trading days left, I switch anyway, because NCDEX castor seed goes into compulsory delivery in the last three trading days. This safety limit was used for 4 of the 36 switches. Most importantly, every daily futures return uses the same contract on both days, so the price gap at a switch is never counted as a return. As a check, holding each contract until expiry gave much weaker results, 3.0% out of sample.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hedge I followed Buyukkara, Kucukozmen and Uysal. The hedged return is the castor meal return minus h times the futures return. I estimated h in three ways: OLS gives one fixed ratio, the naive hedge simply uses 1, and a diagonal VECH GARCH model gives a new ratio each day. Hedge effectiveness is the share of variance removed. The OLS hedge ratio is 0.614 and it is statistically significant, so for every 100 rupees of castor meal you would sell about 61 rupees of castor seed futures. But the hedge only removes about 6.8 percent of the risk in sample and 6.6 percent out of sample. The naive hedge does worse because one-for-one is too much for such a loose link, and GARCH is only slightly better than OLS, not enough to justify the extra complexity. My conclusion is that castor seed futures give only a small but stable hedge for castor meal: a cross-hedge can only remove the risk the two commodities share, and here that shared part is small.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1005840"/>
          </a:xfrm>
          <a:prstGeom prst="rect">
            <a:avLst/>
          </a:prstGeom>
          <a:noFill/>
          <a:ln/>
        </p:spPr>
        <p:txBody>
          <a:bodyPr wrap="square" lIns="0" tIns="0" rIns="0" bIns="0" rtlCol="0" anchor="t"/>
          <a:lstStyle/>
          <a:p>
            <a:pPr marL="0" indent="0">
              <a:buNone/>
            </a:pPr>
            <a:r>
              <a:rPr lang="en-US" sz="3400" b="1" dirty="0">
                <a:solidFill>
                  <a:srgbClr val="000000"/>
                </a:solidFill>
                <a:latin typeface="Calibri" pitchFamily="34" charset="0"/>
                <a:ea typeface="Calibri" pitchFamily="34" charset="-122"/>
                <a:cs typeface="Calibri" pitchFamily="34" charset="-120"/>
              </a:rPr>
              <a:t>Cross-Hedging Castor Meal Price Risk Using NCDEX Castor Seed Futures</a:t>
            </a:r>
            <a:endParaRPr lang="en-US" sz="3400" dirty="0"/>
          </a:p>
        </p:txBody>
      </p:sp>
      <p:sp>
        <p:nvSpPr>
          <p:cNvPr id="3" name="Text 1"/>
          <p:cNvSpPr txBox="1"/>
          <p:nvPr/>
        </p:nvSpPr>
        <p:spPr>
          <a:xfrm>
            <a:off x="548640" y="1508760"/>
            <a:ext cx="11064240" cy="365760"/>
          </a:xfrm>
          <a:prstGeom prst="rect">
            <a:avLst/>
          </a:prstGeom>
          <a:noFill/>
          <a:ln/>
        </p:spPr>
        <p:txBody>
          <a:bodyPr wrap="square" lIns="0" tIns="0" rIns="0" bIns="0" rtlCol="0" anchor="ctr"/>
          <a:lstStyle/>
          <a:p>
            <a:pPr marL="0" indent="0">
              <a:buNone/>
            </a:pPr>
            <a:r>
              <a:rPr lang="en-US" sz="2000" b="1" u="sng" dirty="0">
                <a:solidFill>
                  <a:schemeClr val="tx1">
                    <a:lumMod val="95000"/>
                    <a:lumOff val="5000"/>
                  </a:schemeClr>
                </a:solidFill>
                <a:latin typeface="Calibri" pitchFamily="34" charset="0"/>
                <a:ea typeface="Calibri" pitchFamily="34" charset="-122"/>
                <a:cs typeface="Calibri" pitchFamily="34" charset="-120"/>
              </a:rPr>
              <a:t>Nandan Lunawat</a:t>
            </a:r>
            <a:r>
              <a:rPr lang="en-US" sz="2000" b="1" dirty="0">
                <a:solidFill>
                  <a:schemeClr val="tx1">
                    <a:lumMod val="95000"/>
                    <a:lumOff val="5000"/>
                  </a:schemeClr>
                </a:solidFill>
                <a:latin typeface="Calibri" pitchFamily="34" charset="0"/>
                <a:ea typeface="Calibri" pitchFamily="34" charset="-122"/>
                <a:cs typeface="Calibri" pitchFamily="34" charset="-120"/>
              </a:rPr>
              <a:t>|  </a:t>
            </a:r>
            <a:r>
              <a:rPr lang="en-US" sz="2000" b="1" u="sng" dirty="0">
                <a:solidFill>
                  <a:schemeClr val="tx1">
                    <a:lumMod val="95000"/>
                    <a:lumOff val="5000"/>
                  </a:schemeClr>
                </a:solidFill>
                <a:latin typeface="Calibri" pitchFamily="34" charset="0"/>
                <a:ea typeface="Calibri" pitchFamily="34" charset="-122"/>
                <a:cs typeface="Calibri" pitchFamily="34" charset="-120"/>
              </a:rPr>
              <a:t>M.A. Applied Quantitative Finance </a:t>
            </a:r>
            <a:endParaRPr lang="en-US" sz="2000" b="1" u="sng" dirty="0">
              <a:solidFill>
                <a:schemeClr val="tx1">
                  <a:lumMod val="95000"/>
                  <a:lumOff val="5000"/>
                </a:schemeClr>
              </a:solidFill>
            </a:endParaRPr>
          </a:p>
        </p:txBody>
      </p:sp>
      <p:sp>
        <p:nvSpPr>
          <p:cNvPr id="4" name="Text 2"/>
          <p:cNvSpPr txBox="1"/>
          <p:nvPr/>
        </p:nvSpPr>
        <p:spPr>
          <a:xfrm>
            <a:off x="548640" y="2971800"/>
            <a:ext cx="4937760" cy="365760"/>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The question</a:t>
            </a:r>
            <a:endParaRPr lang="en-US" sz="1800" dirty="0"/>
          </a:p>
        </p:txBody>
      </p:sp>
      <p:sp>
        <p:nvSpPr>
          <p:cNvPr id="5" name="Text 3"/>
          <p:cNvSpPr txBox="1"/>
          <p:nvPr/>
        </p:nvSpPr>
        <p:spPr>
          <a:xfrm>
            <a:off x="548640" y="3429000"/>
            <a:ext cx="493776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404040"/>
                </a:solidFill>
                <a:latin typeface="Calibri" pitchFamily="34" charset="0"/>
                <a:ea typeface="Calibri" pitchFamily="34" charset="-122"/>
                <a:cs typeface="Calibri" pitchFamily="34" charset="-120"/>
              </a:rPr>
              <a:t>A holder of castor meal faces price risk, but NCDEX has no castor meal futures contract.</a:t>
            </a:r>
            <a:endParaRPr lang="en-US" sz="1500" dirty="0"/>
          </a:p>
          <a:p>
            <a:pPr marL="342900" indent="-342900">
              <a:spcAft>
                <a:spcPts val="1000"/>
              </a:spcAft>
              <a:buSzPct val="100000"/>
              <a:buChar char="•"/>
            </a:pPr>
            <a:r>
              <a:rPr lang="en-US" sz="1500" dirty="0">
                <a:solidFill>
                  <a:srgbClr val="404040"/>
                </a:solidFill>
                <a:latin typeface="Calibri" pitchFamily="34" charset="0"/>
                <a:ea typeface="Calibri" pitchFamily="34" charset="-122"/>
                <a:cs typeface="Calibri" pitchFamily="34" charset="-120"/>
              </a:rPr>
              <a:t>NCDEX does trade castor seed futures, the raw material that castor meal comes from.</a:t>
            </a:r>
            <a:endParaRPr lang="en-US" sz="1500" dirty="0"/>
          </a:p>
          <a:p>
            <a:pPr marL="342900" indent="-342900">
              <a:spcAft>
                <a:spcPts val="1000"/>
              </a:spcAft>
              <a:buSzPct val="100000"/>
              <a:buChar char="•"/>
            </a:pPr>
            <a:r>
              <a:rPr lang="en-US" sz="1500" dirty="0">
                <a:solidFill>
                  <a:srgbClr val="404040"/>
                </a:solidFill>
                <a:latin typeface="Calibri" pitchFamily="34" charset="0"/>
                <a:ea typeface="Calibri" pitchFamily="34" charset="-122"/>
                <a:cs typeface="Calibri" pitchFamily="34" charset="-120"/>
              </a:rPr>
              <a:t>Can castor seed futures hedge castor meal? How much risk do they remove, and does the hedge hold up on new data?</a:t>
            </a:r>
            <a:endParaRPr lang="en-US" sz="1500" dirty="0"/>
          </a:p>
        </p:txBody>
      </p:sp>
      <p:sp>
        <p:nvSpPr>
          <p:cNvPr id="6" name="Shape 4"/>
          <p:cNvSpPr/>
          <p:nvPr/>
        </p:nvSpPr>
        <p:spPr>
          <a:xfrm>
            <a:off x="6126480" y="2971800"/>
            <a:ext cx="2468880" cy="1920240"/>
          </a:xfrm>
          <a:prstGeom prst="rect">
            <a:avLst/>
          </a:prstGeom>
          <a:solidFill>
            <a:srgbClr val="F2F2F2"/>
          </a:solidFill>
          <a:ln w="9525">
            <a:solidFill>
              <a:srgbClr val="F2F2F2"/>
            </a:solidFill>
            <a:prstDash val="solid"/>
          </a:ln>
        </p:spPr>
      </p:sp>
      <p:sp>
        <p:nvSpPr>
          <p:cNvPr id="7" name="Text 5"/>
          <p:cNvSpPr txBox="1"/>
          <p:nvPr/>
        </p:nvSpPr>
        <p:spPr>
          <a:xfrm>
            <a:off x="6355080" y="3136392"/>
            <a:ext cx="2011680" cy="365760"/>
          </a:xfrm>
          <a:prstGeom prst="rect">
            <a:avLst/>
          </a:prstGeom>
          <a:noFill/>
          <a:ln/>
        </p:spPr>
        <p:txBody>
          <a:bodyPr wrap="square" lIns="0" tIns="0" rIns="0" bIns="0" rtlCol="0" anchor="ctr"/>
          <a:lstStyle/>
          <a:p>
            <a:r>
              <a:rPr lang="en-US" sz="1700" b="1" dirty="0">
                <a:solidFill>
                  <a:schemeClr val="tx1">
                    <a:lumMod val="95000"/>
                    <a:lumOff val="5000"/>
                  </a:schemeClr>
                </a:solidFill>
                <a:latin typeface="Calibri" pitchFamily="34" charset="0"/>
                <a:ea typeface="Calibri" pitchFamily="34" charset="-122"/>
                <a:cs typeface="Calibri" pitchFamily="34" charset="-120"/>
              </a:rPr>
              <a:t>Asset A: </a:t>
            </a:r>
            <a:r>
              <a:rPr lang="en-US" b="1" dirty="0">
                <a:solidFill>
                  <a:schemeClr val="tx1">
                    <a:lumMod val="95000"/>
                    <a:lumOff val="5000"/>
                  </a:schemeClr>
                </a:solidFill>
                <a:latin typeface="Calibri" pitchFamily="34" charset="0"/>
                <a:ea typeface="Calibri" pitchFamily="34" charset="-122"/>
                <a:cs typeface="Calibri" pitchFamily="34" charset="-120"/>
              </a:rPr>
              <a:t>Castor meal</a:t>
            </a:r>
            <a:endParaRPr lang="en-US" b="1" dirty="0">
              <a:solidFill>
                <a:schemeClr val="tx1">
                  <a:lumMod val="95000"/>
                  <a:lumOff val="5000"/>
                </a:schemeClr>
              </a:solidFill>
            </a:endParaRPr>
          </a:p>
        </p:txBody>
      </p:sp>
      <p:sp>
        <p:nvSpPr>
          <p:cNvPr id="8" name="Text 6"/>
          <p:cNvSpPr txBox="1"/>
          <p:nvPr/>
        </p:nvSpPr>
        <p:spPr>
          <a:xfrm>
            <a:off x="6355080" y="3538728"/>
            <a:ext cx="2011680" cy="1188720"/>
          </a:xfrm>
          <a:prstGeom prst="rect">
            <a:avLst/>
          </a:prstGeom>
          <a:noFill/>
          <a:ln/>
        </p:spPr>
        <p:txBody>
          <a:bodyPr wrap="square" lIns="0" tIns="0" rIns="0" bIns="0" rtlCol="0" anchor="t"/>
          <a:lstStyle/>
          <a:p>
            <a:pPr marL="0" indent="0">
              <a:spcAft>
                <a:spcPts val="400"/>
              </a:spcAft>
              <a:buNone/>
            </a:pPr>
            <a:endParaRPr lang="en-US" sz="1400" dirty="0">
              <a:solidFill>
                <a:srgbClr val="404040"/>
              </a:solidFill>
              <a:latin typeface="Calibri" pitchFamily="34" charset="0"/>
              <a:ea typeface="Calibri" pitchFamily="34" charset="-122"/>
              <a:cs typeface="Calibri" pitchFamily="34" charset="-120"/>
            </a:endParaRPr>
          </a:p>
          <a:p>
            <a:pPr marL="0" indent="0">
              <a:spcAft>
                <a:spcPts val="400"/>
              </a:spcAft>
              <a:buNone/>
            </a:pPr>
            <a:r>
              <a:rPr lang="en-US" sz="1400" dirty="0">
                <a:solidFill>
                  <a:srgbClr val="404040"/>
                </a:solidFill>
                <a:latin typeface="Calibri" pitchFamily="34" charset="0"/>
                <a:ea typeface="Calibri" pitchFamily="34" charset="-122"/>
                <a:cs typeface="Calibri" pitchFamily="34" charset="-120"/>
              </a:rPr>
              <a:t>SEA daily quote</a:t>
            </a:r>
            <a:endParaRPr lang="en-US" sz="1400" dirty="0"/>
          </a:p>
          <a:p>
            <a:pPr marL="0" indent="0">
              <a:spcAft>
                <a:spcPts val="400"/>
              </a:spcAft>
              <a:buNone/>
            </a:pPr>
            <a:r>
              <a:rPr lang="en-US" sz="1400" dirty="0">
                <a:solidFill>
                  <a:srgbClr val="404040"/>
                </a:solidFill>
                <a:latin typeface="Calibri" pitchFamily="34" charset="0"/>
                <a:ea typeface="Calibri" pitchFamily="34" charset="-122"/>
                <a:cs typeface="Calibri" pitchFamily="34" charset="-120"/>
              </a:rPr>
              <a:t>Ex-Kandla</a:t>
            </a:r>
            <a:endParaRPr lang="en-US" sz="1400" dirty="0"/>
          </a:p>
          <a:p>
            <a:pPr marL="0" indent="0">
              <a:spcAft>
                <a:spcPts val="400"/>
              </a:spcAft>
              <a:buNone/>
            </a:pPr>
            <a:r>
              <a:rPr lang="en-US" sz="1400" dirty="0">
                <a:solidFill>
                  <a:srgbClr val="404040"/>
                </a:solidFill>
                <a:latin typeface="Calibri" pitchFamily="34" charset="0"/>
                <a:ea typeface="Calibri" pitchFamily="34" charset="-122"/>
                <a:cs typeface="Calibri" pitchFamily="34" charset="-120"/>
              </a:rPr>
              <a:t>Rs per tonne</a:t>
            </a:r>
            <a:endParaRPr lang="en-US" sz="1400" dirty="0"/>
          </a:p>
        </p:txBody>
      </p:sp>
      <p:sp>
        <p:nvSpPr>
          <p:cNvPr id="9" name="Shape 7"/>
          <p:cNvSpPr/>
          <p:nvPr/>
        </p:nvSpPr>
        <p:spPr>
          <a:xfrm>
            <a:off x="9144000" y="2971800"/>
            <a:ext cx="2468880" cy="1920240"/>
          </a:xfrm>
          <a:prstGeom prst="rect">
            <a:avLst/>
          </a:prstGeom>
          <a:solidFill>
            <a:srgbClr val="F2F2F2"/>
          </a:solidFill>
          <a:ln w="9525">
            <a:solidFill>
              <a:srgbClr val="F2F2F2"/>
            </a:solidFill>
            <a:prstDash val="solid"/>
          </a:ln>
        </p:spPr>
      </p:sp>
      <p:sp>
        <p:nvSpPr>
          <p:cNvPr id="10" name="Text 8"/>
          <p:cNvSpPr txBox="1"/>
          <p:nvPr/>
        </p:nvSpPr>
        <p:spPr>
          <a:xfrm>
            <a:off x="9372600" y="3200400"/>
            <a:ext cx="2011680" cy="365760"/>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Asset B: Castor Seed futures</a:t>
            </a:r>
            <a:endParaRPr lang="en-US" sz="1700" dirty="0"/>
          </a:p>
        </p:txBody>
      </p:sp>
      <p:sp>
        <p:nvSpPr>
          <p:cNvPr id="11" name="Text 9"/>
          <p:cNvSpPr txBox="1"/>
          <p:nvPr/>
        </p:nvSpPr>
        <p:spPr>
          <a:xfrm>
            <a:off x="9372600" y="3538728"/>
            <a:ext cx="2011680" cy="1188720"/>
          </a:xfrm>
          <a:prstGeom prst="rect">
            <a:avLst/>
          </a:prstGeom>
          <a:noFill/>
          <a:ln/>
        </p:spPr>
        <p:txBody>
          <a:bodyPr wrap="square" lIns="0" tIns="0" rIns="0" bIns="0" rtlCol="0" anchor="t"/>
          <a:lstStyle/>
          <a:p>
            <a:pPr marL="0" indent="0">
              <a:spcAft>
                <a:spcPts val="400"/>
              </a:spcAft>
              <a:buNone/>
            </a:pPr>
            <a:endParaRPr lang="en-US" sz="1400" dirty="0">
              <a:solidFill>
                <a:srgbClr val="404040"/>
              </a:solidFill>
              <a:latin typeface="Calibri" pitchFamily="34" charset="0"/>
              <a:ea typeface="Calibri" pitchFamily="34" charset="-122"/>
              <a:cs typeface="Calibri" pitchFamily="34" charset="-120"/>
            </a:endParaRPr>
          </a:p>
          <a:p>
            <a:pPr marL="0" indent="0">
              <a:spcAft>
                <a:spcPts val="400"/>
              </a:spcAft>
              <a:buNone/>
            </a:pPr>
            <a:r>
              <a:rPr lang="en-US" sz="1400" dirty="0">
                <a:solidFill>
                  <a:srgbClr val="404040"/>
                </a:solidFill>
                <a:latin typeface="Calibri" pitchFamily="34" charset="0"/>
                <a:ea typeface="Calibri" pitchFamily="34" charset="-122"/>
                <a:cs typeface="Calibri" pitchFamily="34" charset="-120"/>
              </a:rPr>
              <a:t>Castor seed futures</a:t>
            </a:r>
            <a:endParaRPr lang="en-US" sz="1400" dirty="0"/>
          </a:p>
          <a:p>
            <a:pPr marL="0" indent="0">
              <a:spcAft>
                <a:spcPts val="400"/>
              </a:spcAft>
              <a:buNone/>
            </a:pPr>
            <a:r>
              <a:rPr lang="en-US" sz="1400" dirty="0">
                <a:solidFill>
                  <a:srgbClr val="404040"/>
                </a:solidFill>
                <a:latin typeface="Calibri" pitchFamily="34" charset="0"/>
                <a:ea typeface="Calibri" pitchFamily="34" charset="-122"/>
                <a:cs typeface="Calibri" pitchFamily="34" charset="-120"/>
              </a:rPr>
              <a:t>NCDEX, symbol CASTOR</a:t>
            </a:r>
            <a:endParaRPr lang="en-US" sz="1400" dirty="0"/>
          </a:p>
          <a:p>
            <a:pPr marL="0" indent="0">
              <a:spcAft>
                <a:spcPts val="400"/>
              </a:spcAft>
              <a:buNone/>
            </a:pPr>
            <a:r>
              <a:rPr lang="en-US" sz="1400" dirty="0">
                <a:solidFill>
                  <a:srgbClr val="404040"/>
                </a:solidFill>
                <a:latin typeface="Calibri" pitchFamily="34" charset="0"/>
                <a:ea typeface="Calibri" pitchFamily="34" charset="-122"/>
                <a:cs typeface="Calibri" pitchFamily="34" charset="-120"/>
              </a:rPr>
              <a:t>Deesa, monthly expiry</a:t>
            </a:r>
            <a:endParaRPr lang="en-US" sz="1400" dirty="0"/>
          </a:p>
          <a:p>
            <a:pPr marL="0" indent="0">
              <a:spcAft>
                <a:spcPts val="400"/>
              </a:spcAft>
              <a:buNone/>
            </a:pPr>
            <a:r>
              <a:rPr lang="en-US" sz="1400" dirty="0">
                <a:solidFill>
                  <a:srgbClr val="404040"/>
                </a:solidFill>
                <a:latin typeface="Calibri" pitchFamily="34" charset="0"/>
                <a:ea typeface="Calibri" pitchFamily="34" charset="-122"/>
                <a:cs typeface="Calibri" pitchFamily="34" charset="-120"/>
              </a:rPr>
              <a:t>Rs per quintal</a:t>
            </a:r>
            <a:endParaRPr lang="en-US" sz="1400" dirty="0"/>
          </a:p>
        </p:txBody>
      </p:sp>
      <p:sp>
        <p:nvSpPr>
          <p:cNvPr id="12" name="Shape 10"/>
          <p:cNvSpPr/>
          <p:nvPr/>
        </p:nvSpPr>
        <p:spPr>
          <a:xfrm>
            <a:off x="8641080" y="3931920"/>
            <a:ext cx="457200" cy="0"/>
          </a:xfrm>
          <a:prstGeom prst="line">
            <a:avLst/>
          </a:prstGeom>
          <a:noFill/>
          <a:ln w="19050">
            <a:solidFill>
              <a:srgbClr val="404040"/>
            </a:solidFill>
            <a:prstDash val="solid"/>
            <a:headEnd type="triangle"/>
            <a:tailEnd type="triangle"/>
          </a:ln>
        </p:spPr>
      </p:sp>
      <p:sp>
        <p:nvSpPr>
          <p:cNvPr id="13" name="Text 11"/>
          <p:cNvSpPr txBox="1"/>
          <p:nvPr/>
        </p:nvSpPr>
        <p:spPr>
          <a:xfrm>
            <a:off x="6126480" y="5120640"/>
            <a:ext cx="5486400" cy="731520"/>
          </a:xfrm>
          <a:prstGeom prst="rect">
            <a:avLst/>
          </a:prstGeom>
          <a:noFill/>
          <a:ln/>
        </p:spPr>
        <p:txBody>
          <a:bodyPr wrap="square" lIns="0" tIns="0" rIns="0" bIns="0" rtlCol="0" anchor="t"/>
          <a:lstStyle/>
          <a:p>
            <a:pPr marL="0" indent="0">
              <a:buNone/>
            </a:pPr>
            <a:r>
              <a:rPr lang="en-US" sz="1300" i="1" dirty="0">
                <a:solidFill>
                  <a:srgbClr val="404040"/>
                </a:solidFill>
                <a:latin typeface="Calibri" pitchFamily="34" charset="0"/>
                <a:ea typeface="Calibri" pitchFamily="34" charset="-122"/>
                <a:cs typeface="Calibri" pitchFamily="34" charset="-120"/>
              </a:rPr>
              <a:t>Linked because castor seed is crushed into castor oil and castor meal, but they are different products. This makes it a cross-hedge.</a:t>
            </a:r>
            <a:endParaRPr lang="en-US" sz="1300" dirty="0"/>
          </a:p>
        </p:txBody>
      </p:sp>
      <p:sp>
        <p:nvSpPr>
          <p:cNvPr id="14" name="Text 12"/>
          <p:cNvSpPr txBox="1"/>
          <p:nvPr/>
        </p:nvSpPr>
        <p:spPr>
          <a:xfrm>
            <a:off x="10972800" y="6400800"/>
            <a:ext cx="731520" cy="27432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1 / 4</a:t>
            </a:r>
            <a:endParaRPr lang="en-US" sz="1000" dirty="0"/>
          </a:p>
        </p:txBody>
      </p:sp>
      <p:sp>
        <p:nvSpPr>
          <p:cNvPr id="16" name="TextBox 15">
            <a:extLst>
              <a:ext uri="{FF2B5EF4-FFF2-40B4-BE49-F238E27FC236}">
                <a16:creationId xmlns:a16="http://schemas.microsoft.com/office/drawing/2014/main" id="{E70F74F0-6AE2-AE55-4EE2-221173AD1826}"/>
              </a:ext>
            </a:extLst>
          </p:cNvPr>
          <p:cNvSpPr txBox="1"/>
          <p:nvPr/>
        </p:nvSpPr>
        <p:spPr>
          <a:xfrm>
            <a:off x="505326" y="2835442"/>
            <a:ext cx="184731" cy="923330"/>
          </a:xfrm>
          <a:prstGeom prst="rect">
            <a:avLst/>
          </a:prstGeom>
          <a:noFill/>
        </p:spPr>
        <p:txBody>
          <a:bodyPr wrap="none" rtlCol="0">
            <a:spAutoFit/>
          </a:bodyPr>
          <a:lstStyle/>
          <a:p>
            <a:endParaRPr lang="en-IN" dirty="0"/>
          </a:p>
          <a:p>
            <a:endParaRPr lang="en-IN" dirty="0"/>
          </a:p>
          <a:p>
            <a:endParaRPr lang="en-IN" dirty="0"/>
          </a:p>
        </p:txBody>
      </p:sp>
      <p:sp>
        <p:nvSpPr>
          <p:cNvPr id="17" name="TextBox 16">
            <a:extLst>
              <a:ext uri="{FF2B5EF4-FFF2-40B4-BE49-F238E27FC236}">
                <a16:creationId xmlns:a16="http://schemas.microsoft.com/office/drawing/2014/main" id="{518A0EF9-BD55-4ADB-E021-5628496195E2}"/>
              </a:ext>
            </a:extLst>
          </p:cNvPr>
          <p:cNvSpPr txBox="1"/>
          <p:nvPr/>
        </p:nvSpPr>
        <p:spPr>
          <a:xfrm>
            <a:off x="890337" y="2715126"/>
            <a:ext cx="1189749" cy="646331"/>
          </a:xfrm>
          <a:prstGeom prst="rect">
            <a:avLst/>
          </a:prstGeom>
          <a:noFill/>
        </p:spPr>
        <p:txBody>
          <a:bodyPr wrap="none" rtlCol="0">
            <a:spAutoFit/>
          </a:bodyPr>
          <a:lstStyle/>
          <a:p>
            <a:r>
              <a:rPr lang="en-IN" dirty="0"/>
              <a:t>                   </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marL="0" indent="0">
              <a:buNone/>
            </a:pPr>
            <a:r>
              <a:rPr lang="en-US" sz="3200" b="1" dirty="0">
                <a:solidFill>
                  <a:srgbClr val="000000"/>
                </a:solidFill>
                <a:latin typeface="Calibri" pitchFamily="34" charset="0"/>
                <a:ea typeface="Calibri" pitchFamily="34" charset="-122"/>
                <a:cs typeface="Calibri" pitchFamily="34" charset="-120"/>
              </a:rPr>
              <a:t>Data and how it was treated</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500" b="1" dirty="0">
                <a:solidFill>
                  <a:schemeClr val="tx1">
                    <a:lumMod val="95000"/>
                    <a:lumOff val="5000"/>
                  </a:schemeClr>
                </a:solidFill>
                <a:latin typeface="Calibri" pitchFamily="34" charset="0"/>
                <a:ea typeface="Calibri" pitchFamily="34" charset="-122"/>
                <a:cs typeface="Calibri" pitchFamily="34" charset="-120"/>
              </a:rPr>
              <a:t>Daily data, 25 Sep 2023 to 28 Sep 2026</a:t>
            </a:r>
            <a:endParaRPr lang="en-US" sz="1500" b="1" dirty="0">
              <a:solidFill>
                <a:schemeClr val="tx1">
                  <a:lumMod val="95000"/>
                  <a:lumOff val="5000"/>
                </a:schemeClr>
              </a:solidFill>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035040" cy="2673096"/>
        </p:xfrm>
        <a:graphic>
          <a:graphicData uri="http://schemas.openxmlformats.org/drawingml/2006/table">
            <a:tbl>
              <a:tblPr/>
              <a:tblGrid>
                <a:gridCol w="10972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502920">
                <a:tc>
                  <a:txBody>
                    <a:bodyPr/>
                    <a:lstStyle/>
                    <a:p>
                      <a:pPr marL="0" indent="0">
                        <a:buNone/>
                      </a:pP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300" b="1" dirty="0">
                          <a:solidFill>
                            <a:srgbClr val="404040"/>
                          </a:solidFill>
                          <a:latin typeface="Calibri" pitchFamily="34" charset="0"/>
                          <a:ea typeface="Calibri" pitchFamily="34" charset="-122"/>
                          <a:cs typeface="Calibri" pitchFamily="34" charset="-120"/>
                        </a:rPr>
                        <a:t>Castor meal (spot)</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300" b="1" dirty="0">
                          <a:solidFill>
                            <a:srgbClr val="404040"/>
                          </a:solidFill>
                          <a:latin typeface="Calibri" pitchFamily="34" charset="0"/>
                          <a:ea typeface="Calibri" pitchFamily="34" charset="-122"/>
                          <a:cs typeface="Calibri" pitchFamily="34" charset="-120"/>
                        </a:rPr>
                        <a:t>Castor seed (futures)</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rgbClr val="404040"/>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300" dirty="0">
                          <a:solidFill>
                            <a:srgbClr val="404040"/>
                          </a:solidFill>
                          <a:latin typeface="Calibri" pitchFamily="34" charset="0"/>
                          <a:ea typeface="Calibri" pitchFamily="34" charset="-122"/>
                          <a:cs typeface="Calibri" pitchFamily="34" charset="-120"/>
                        </a:rPr>
                        <a:t>SEA (Solvent Extractors' Association of India) daily quotes</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300" dirty="0">
                          <a:solidFill>
                            <a:srgbClr val="404040"/>
                          </a:solidFill>
                          <a:latin typeface="Calibri" pitchFamily="34" charset="0"/>
                          <a:ea typeface="Calibri" pitchFamily="34" charset="-122"/>
                          <a:cs typeface="Calibri" pitchFamily="34" charset="-120"/>
                        </a:rPr>
                        <a:t>NCDEX daily bhavcopy files</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dirty="0">
                          <a:solidFill>
                            <a:srgbClr val="404040"/>
                          </a:solidFill>
                          <a:latin typeface="Calibri" pitchFamily="34" charset="0"/>
                          <a:ea typeface="Calibri" pitchFamily="34" charset="-122"/>
                          <a:cs typeface="Calibri" pitchFamily="34" charset="-120"/>
                        </a:rPr>
                        <a:t>Price</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300" dirty="0">
                          <a:solidFill>
                            <a:srgbClr val="404040"/>
                          </a:solidFill>
                          <a:latin typeface="Calibri" pitchFamily="34" charset="0"/>
                          <a:ea typeface="Calibri" pitchFamily="34" charset="-122"/>
                          <a:cs typeface="Calibri" pitchFamily="34" charset="-120"/>
                        </a:rPr>
                        <a:t>Published quote, Rs/tonne</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300" dirty="0">
                          <a:solidFill>
                            <a:srgbClr val="404040"/>
                          </a:solidFill>
                          <a:latin typeface="Calibri" pitchFamily="34" charset="0"/>
                          <a:ea typeface="Calibri" pitchFamily="34" charset="-122"/>
                          <a:cs typeface="Calibri" pitchFamily="34" charset="-120"/>
                        </a:rPr>
                        <a:t>Closing price of each contract, Rs/quintal</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00" dirty="0">
                          <a:solidFill>
                            <a:srgbClr val="404040"/>
                          </a:solidFill>
                          <a:latin typeface="Calibri" pitchFamily="34" charset="0"/>
                          <a:ea typeface="Calibri" pitchFamily="34" charset="-122"/>
                          <a:cs typeface="Calibri" pitchFamily="34" charset="-120"/>
                        </a:rPr>
                        <a:t>Collected</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300" dirty="0">
                          <a:solidFill>
                            <a:srgbClr val="404040"/>
                          </a:solidFill>
                          <a:latin typeface="Calibri" pitchFamily="34" charset="0"/>
                          <a:ea typeface="Calibri" pitchFamily="34" charset="-122"/>
                          <a:cs typeface="Calibri" pitchFamily="34" charset="-120"/>
                        </a:rPr>
                        <a:t>647 daily posts</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300" dirty="0">
                          <a:solidFill>
                            <a:srgbClr val="404040"/>
                          </a:solidFill>
                          <a:latin typeface="Calibri" pitchFamily="34" charset="0"/>
                          <a:ea typeface="Calibri" pitchFamily="34" charset="-122"/>
                          <a:cs typeface="Calibri" pitchFamily="34" charset="-120"/>
                        </a:rPr>
                        <a:t>744 trading days, 3,467 contract-days</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dirty="0">
                          <a:solidFill>
                            <a:srgbClr val="404040"/>
                          </a:solidFill>
                          <a:latin typeface="Calibri" pitchFamily="34" charset="0"/>
                          <a:ea typeface="Calibri" pitchFamily="34" charset="-122"/>
                          <a:cs typeface="Calibri" pitchFamily="34" charset="-120"/>
                        </a:rPr>
                        <a:t>Usable</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300" dirty="0">
                          <a:solidFill>
                            <a:srgbClr val="404040"/>
                          </a:solidFill>
                          <a:latin typeface="Calibri" pitchFamily="34" charset="0"/>
                          <a:ea typeface="Calibri" pitchFamily="34" charset="-122"/>
                          <a:cs typeface="Calibri" pitchFamily="34" charset="-120"/>
                        </a:rPr>
                        <a:t>546 prices</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buNone/>
                      </a:pPr>
                      <a:r>
                        <a:rPr lang="en-US" sz="1300" dirty="0">
                          <a:solidFill>
                            <a:srgbClr val="404040"/>
                          </a:solidFill>
                          <a:latin typeface="Calibri" pitchFamily="34" charset="0"/>
                          <a:ea typeface="Calibri" pitchFamily="34" charset="-122"/>
                          <a:cs typeface="Calibri" pitchFamily="34" charset="-120"/>
                        </a:rPr>
                        <a:t>All days; contract chosen by roll rule</a:t>
                      </a:r>
                      <a:endParaRPr lang="en-US" sz="1300" dirty="0">
                        <a:latin typeface="Calibri" charset="0"/>
                        <a:ea typeface="Calibri" charset="0"/>
                        <a:cs typeface="Calibri" charset="0"/>
                      </a:endParaRPr>
                    </a:p>
                  </a:txBody>
                  <a:tcPr marL="73152" marR="73152" marT="73152" marB="7315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7040880" y="1691640"/>
            <a:ext cx="457200" cy="457200"/>
          </a:xfrm>
          <a:prstGeom prst="ellipse">
            <a:avLst/>
          </a:prstGeom>
          <a:solidFill>
            <a:srgbClr val="000000"/>
          </a:solidFill>
          <a:ln w="12700">
            <a:solidFill>
              <a:srgbClr val="000000"/>
            </a:solidFill>
            <a:prstDash val="solid"/>
          </a:ln>
        </p:spPr>
      </p:sp>
      <p:sp>
        <p:nvSpPr>
          <p:cNvPr id="6" name="Text 3"/>
          <p:cNvSpPr txBox="1"/>
          <p:nvPr/>
        </p:nvSpPr>
        <p:spPr>
          <a:xfrm>
            <a:off x="7040880" y="1691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7680960" y="1645920"/>
            <a:ext cx="3931920" cy="320040"/>
          </a:xfrm>
          <a:prstGeom prst="rect">
            <a:avLst/>
          </a:prstGeom>
          <a:noFill/>
          <a:ln/>
        </p:spPr>
        <p:txBody>
          <a:bodyPr wrap="square" lIns="0" tIns="0" rIns="0" bIns="0" rtlCol="0" anchor="ctr"/>
          <a:lstStyle/>
          <a:p>
            <a:pPr marL="0" indent="0">
              <a:buNone/>
            </a:pPr>
            <a:r>
              <a:rPr lang="en-US" sz="1600" b="1" dirty="0">
                <a:solidFill>
                  <a:srgbClr val="000000"/>
                </a:solidFill>
                <a:latin typeface="Calibri" pitchFamily="34" charset="0"/>
                <a:ea typeface="Calibri" pitchFamily="34" charset="-122"/>
                <a:cs typeface="Calibri" pitchFamily="34" charset="-120"/>
              </a:rPr>
              <a:t>Collect</a:t>
            </a:r>
            <a:endParaRPr lang="en-US" sz="1600" dirty="0"/>
          </a:p>
        </p:txBody>
      </p:sp>
      <p:sp>
        <p:nvSpPr>
          <p:cNvPr id="8" name="Text 5"/>
          <p:cNvSpPr txBox="1"/>
          <p:nvPr/>
        </p:nvSpPr>
        <p:spPr>
          <a:xfrm>
            <a:off x="7680960" y="1965960"/>
            <a:ext cx="3931920" cy="731520"/>
          </a:xfrm>
          <a:prstGeom prst="rect">
            <a:avLst/>
          </a:prstGeom>
          <a:noFill/>
          <a:ln/>
        </p:spPr>
        <p:txBody>
          <a:bodyPr wrap="square" lIns="0" tIns="0" rIns="0" bIns="0" rtlCol="0" anchor="t"/>
          <a:lstStyle/>
          <a:p>
            <a:pPr marL="0" indent="0">
              <a:buNone/>
            </a:pPr>
            <a:r>
              <a:rPr lang="en-US" sz="1300" dirty="0">
                <a:solidFill>
                  <a:srgbClr val="404040"/>
                </a:solidFill>
                <a:latin typeface="Calibri" pitchFamily="34" charset="0"/>
                <a:ea typeface="Calibri" pitchFamily="34" charset="-122"/>
                <a:cs typeface="Calibri" pitchFamily="34" charset="-120"/>
              </a:rPr>
              <a:t>Downloaded every daily NCDEX file and every SEA quote post; each file checked against its date.</a:t>
            </a:r>
            <a:endParaRPr lang="en-US" sz="1300" dirty="0"/>
          </a:p>
        </p:txBody>
      </p:sp>
      <p:sp>
        <p:nvSpPr>
          <p:cNvPr id="9" name="Shape 6"/>
          <p:cNvSpPr/>
          <p:nvPr/>
        </p:nvSpPr>
        <p:spPr>
          <a:xfrm>
            <a:off x="7040880" y="2807208"/>
            <a:ext cx="457200" cy="457200"/>
          </a:xfrm>
          <a:prstGeom prst="ellipse">
            <a:avLst/>
          </a:prstGeom>
          <a:solidFill>
            <a:srgbClr val="000000"/>
          </a:solidFill>
          <a:ln w="12700">
            <a:solidFill>
              <a:srgbClr val="000000"/>
            </a:solidFill>
            <a:prstDash val="solid"/>
          </a:ln>
        </p:spPr>
      </p:sp>
      <p:sp>
        <p:nvSpPr>
          <p:cNvPr id="10" name="Text 7"/>
          <p:cNvSpPr txBox="1"/>
          <p:nvPr/>
        </p:nvSpPr>
        <p:spPr>
          <a:xfrm>
            <a:off x="7040880" y="28072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7680960" y="2761488"/>
            <a:ext cx="3931920" cy="320040"/>
          </a:xfrm>
          <a:prstGeom prst="rect">
            <a:avLst/>
          </a:prstGeom>
          <a:noFill/>
          <a:ln/>
        </p:spPr>
        <p:txBody>
          <a:bodyPr wrap="square" lIns="0" tIns="0" rIns="0" bIns="0" rtlCol="0" anchor="ctr"/>
          <a:lstStyle/>
          <a:p>
            <a:pPr marL="0" indent="0">
              <a:buNone/>
            </a:pPr>
            <a:r>
              <a:rPr lang="en-US" sz="1600" b="1" dirty="0">
                <a:solidFill>
                  <a:srgbClr val="000000"/>
                </a:solidFill>
                <a:latin typeface="Calibri" pitchFamily="34" charset="0"/>
                <a:ea typeface="Calibri" pitchFamily="34" charset="-122"/>
                <a:cs typeface="Calibri" pitchFamily="34" charset="-120"/>
              </a:rPr>
              <a:t>Clean</a:t>
            </a:r>
            <a:endParaRPr lang="en-US" sz="1600" dirty="0"/>
          </a:p>
        </p:txBody>
      </p:sp>
      <p:sp>
        <p:nvSpPr>
          <p:cNvPr id="12" name="Text 9"/>
          <p:cNvSpPr txBox="1"/>
          <p:nvPr/>
        </p:nvSpPr>
        <p:spPr>
          <a:xfrm>
            <a:off x="7680960" y="3081528"/>
            <a:ext cx="3931920" cy="731520"/>
          </a:xfrm>
          <a:prstGeom prst="rect">
            <a:avLst/>
          </a:prstGeom>
          <a:noFill/>
          <a:ln/>
        </p:spPr>
        <p:txBody>
          <a:bodyPr wrap="square" lIns="0" tIns="0" rIns="0" bIns="0" rtlCol="0" anchor="t"/>
          <a:lstStyle/>
          <a:p>
            <a:pPr marL="0" indent="0">
              <a:buNone/>
            </a:pPr>
            <a:r>
              <a:rPr lang="en-US" sz="1300" dirty="0">
                <a:solidFill>
                  <a:srgbClr val="404040"/>
                </a:solidFill>
                <a:latin typeface="Calibri" pitchFamily="34" charset="0"/>
                <a:ea typeface="Calibri" pitchFamily="34" charset="-122"/>
                <a:cs typeface="Calibri" pitchFamily="34" charset="-120"/>
              </a:rPr>
              <a:t>SEA posts set aside only for fixed reasons: date mismatch, duplicate post or obvious typing error.</a:t>
            </a:r>
            <a:endParaRPr lang="en-US" sz="1300" dirty="0"/>
          </a:p>
        </p:txBody>
      </p:sp>
      <p:sp>
        <p:nvSpPr>
          <p:cNvPr id="13" name="Shape 10"/>
          <p:cNvSpPr/>
          <p:nvPr/>
        </p:nvSpPr>
        <p:spPr>
          <a:xfrm>
            <a:off x="7040880" y="3922776"/>
            <a:ext cx="457200" cy="457200"/>
          </a:xfrm>
          <a:prstGeom prst="ellipse">
            <a:avLst/>
          </a:prstGeom>
          <a:solidFill>
            <a:srgbClr val="000000"/>
          </a:solidFill>
          <a:ln w="12700">
            <a:solidFill>
              <a:srgbClr val="000000"/>
            </a:solidFill>
            <a:prstDash val="solid"/>
          </a:ln>
        </p:spPr>
      </p:sp>
      <p:sp>
        <p:nvSpPr>
          <p:cNvPr id="14" name="Text 11"/>
          <p:cNvSpPr txBox="1"/>
          <p:nvPr/>
        </p:nvSpPr>
        <p:spPr>
          <a:xfrm>
            <a:off x="7040880" y="39227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7680960" y="3877056"/>
            <a:ext cx="3931920" cy="320040"/>
          </a:xfrm>
          <a:prstGeom prst="rect">
            <a:avLst/>
          </a:prstGeom>
          <a:noFill/>
          <a:ln/>
        </p:spPr>
        <p:txBody>
          <a:bodyPr wrap="square" lIns="0" tIns="0" rIns="0" bIns="0" rtlCol="0" anchor="ctr"/>
          <a:lstStyle/>
          <a:p>
            <a:pPr marL="0" indent="0">
              <a:buNone/>
            </a:pPr>
            <a:r>
              <a:rPr lang="en-US" sz="1600" b="1" dirty="0">
                <a:solidFill>
                  <a:srgbClr val="000000"/>
                </a:solidFill>
                <a:latin typeface="Calibri" pitchFamily="34" charset="0"/>
                <a:ea typeface="Calibri" pitchFamily="34" charset="-122"/>
                <a:cs typeface="Calibri" pitchFamily="34" charset="-120"/>
              </a:rPr>
              <a:t>Align</a:t>
            </a:r>
            <a:endParaRPr lang="en-US" sz="1600" dirty="0"/>
          </a:p>
        </p:txBody>
      </p:sp>
      <p:sp>
        <p:nvSpPr>
          <p:cNvPr id="16" name="Text 13"/>
          <p:cNvSpPr txBox="1"/>
          <p:nvPr/>
        </p:nvSpPr>
        <p:spPr>
          <a:xfrm>
            <a:off x="7680960" y="4197096"/>
            <a:ext cx="3931920" cy="731520"/>
          </a:xfrm>
          <a:prstGeom prst="rect">
            <a:avLst/>
          </a:prstGeom>
          <a:noFill/>
          <a:ln/>
        </p:spPr>
        <p:txBody>
          <a:bodyPr wrap="square" lIns="0" tIns="0" rIns="0" bIns="0" rtlCol="0" anchor="t"/>
          <a:lstStyle/>
          <a:p>
            <a:pPr marL="0" indent="0">
              <a:buNone/>
            </a:pPr>
            <a:r>
              <a:rPr lang="en-US" sz="1300" dirty="0">
                <a:solidFill>
                  <a:srgbClr val="404040"/>
                </a:solidFill>
                <a:latin typeface="Calibri" pitchFamily="34" charset="0"/>
                <a:ea typeface="Calibri" pitchFamily="34" charset="-122"/>
                <a:cs typeface="Calibri" pitchFamily="34" charset="-120"/>
              </a:rPr>
              <a:t>A return is formed only when two consecutive trading days both have published prices. Nothing is filled in or carried forward.</a:t>
            </a:r>
            <a:endParaRPr lang="en-US" sz="1300" dirty="0"/>
          </a:p>
        </p:txBody>
      </p:sp>
      <p:sp>
        <p:nvSpPr>
          <p:cNvPr id="17" name="Shape 14"/>
          <p:cNvSpPr/>
          <p:nvPr/>
        </p:nvSpPr>
        <p:spPr>
          <a:xfrm>
            <a:off x="7040880" y="5038344"/>
            <a:ext cx="457200" cy="457200"/>
          </a:xfrm>
          <a:prstGeom prst="ellipse">
            <a:avLst/>
          </a:prstGeom>
          <a:solidFill>
            <a:srgbClr val="000000"/>
          </a:solidFill>
          <a:ln w="12700">
            <a:solidFill>
              <a:srgbClr val="000000"/>
            </a:solidFill>
            <a:prstDash val="solid"/>
          </a:ln>
        </p:spPr>
      </p:sp>
      <p:sp>
        <p:nvSpPr>
          <p:cNvPr id="18" name="Text 15"/>
          <p:cNvSpPr txBox="1"/>
          <p:nvPr/>
        </p:nvSpPr>
        <p:spPr>
          <a:xfrm>
            <a:off x="7040880" y="503834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7680960" y="4992624"/>
            <a:ext cx="3931920" cy="320040"/>
          </a:xfrm>
          <a:prstGeom prst="rect">
            <a:avLst/>
          </a:prstGeom>
          <a:noFill/>
          <a:ln/>
        </p:spPr>
        <p:txBody>
          <a:bodyPr wrap="square" lIns="0" tIns="0" rIns="0" bIns="0" rtlCol="0" anchor="ctr"/>
          <a:lstStyle/>
          <a:p>
            <a:pPr marL="0" indent="0">
              <a:buNone/>
            </a:pPr>
            <a:r>
              <a:rPr lang="en-US" sz="1600" b="1" dirty="0">
                <a:solidFill>
                  <a:srgbClr val="000000"/>
                </a:solidFill>
                <a:latin typeface="Calibri" pitchFamily="34" charset="0"/>
                <a:ea typeface="Calibri" pitchFamily="34" charset="-122"/>
                <a:cs typeface="Calibri" pitchFamily="34" charset="-120"/>
              </a:rPr>
              <a:t>Result</a:t>
            </a:r>
            <a:endParaRPr lang="en-US" sz="1600" dirty="0"/>
          </a:p>
        </p:txBody>
      </p:sp>
      <p:sp>
        <p:nvSpPr>
          <p:cNvPr id="20" name="Text 17"/>
          <p:cNvSpPr txBox="1"/>
          <p:nvPr/>
        </p:nvSpPr>
        <p:spPr>
          <a:xfrm>
            <a:off x="7680960" y="5312664"/>
            <a:ext cx="3931920" cy="731520"/>
          </a:xfrm>
          <a:prstGeom prst="rect">
            <a:avLst/>
          </a:prstGeom>
          <a:noFill/>
          <a:ln/>
        </p:spPr>
        <p:txBody>
          <a:bodyPr wrap="square" lIns="0" tIns="0" rIns="0" bIns="0" rtlCol="0" anchor="t"/>
          <a:lstStyle/>
          <a:p>
            <a:pPr marL="0" indent="0">
              <a:buNone/>
            </a:pPr>
            <a:r>
              <a:rPr lang="en-US" sz="1300" dirty="0">
                <a:solidFill>
                  <a:srgbClr val="404040"/>
                </a:solidFill>
                <a:latin typeface="Calibri" pitchFamily="34" charset="0"/>
                <a:ea typeface="Calibri" pitchFamily="34" charset="-122"/>
                <a:cs typeface="Calibri" pitchFamily="34" charset="-120"/>
              </a:rPr>
              <a:t>496 matched daily returns: 275 to estimate the hedge (to 26 Sep 2025), 221 to test it (1 Oct 2025 to 28 Sep 2026).</a:t>
            </a:r>
            <a:endParaRPr lang="en-US" sz="1300" dirty="0"/>
          </a:p>
        </p:txBody>
      </p:sp>
      <p:sp>
        <p:nvSpPr>
          <p:cNvPr id="21" name="Text 18"/>
          <p:cNvSpPr txBox="1"/>
          <p:nvPr/>
        </p:nvSpPr>
        <p:spPr>
          <a:xfrm>
            <a:off x="548640" y="4572000"/>
            <a:ext cx="6035040" cy="457200"/>
          </a:xfrm>
          <a:prstGeom prst="rect">
            <a:avLst/>
          </a:prstGeom>
          <a:noFill/>
          <a:ln/>
        </p:spPr>
        <p:txBody>
          <a:bodyPr wrap="square" lIns="0" tIns="0" rIns="0" bIns="0" rtlCol="0" anchor="ctr"/>
          <a:lstStyle/>
          <a:p>
            <a:pPr marL="0" indent="0">
              <a:buNone/>
            </a:pPr>
            <a:r>
              <a:rPr lang="en-US" sz="1300" i="1" dirty="0">
                <a:solidFill>
                  <a:srgbClr val="404040"/>
                </a:solidFill>
                <a:latin typeface="Calibri" pitchFamily="34" charset="0"/>
                <a:ea typeface="Calibri" pitchFamily="34" charset="-122"/>
                <a:cs typeface="Calibri" pitchFamily="34" charset="-120"/>
              </a:rPr>
              <a:t>Returns: r = ln(Pt / Pt-1). For futures, the same contract is used on both days.</a:t>
            </a:r>
            <a:endParaRPr lang="en-US" sz="1300" dirty="0"/>
          </a:p>
        </p:txBody>
      </p:sp>
      <p:sp>
        <p:nvSpPr>
          <p:cNvPr id="22" name="Text 19"/>
          <p:cNvSpPr txBox="1"/>
          <p:nvPr/>
        </p:nvSpPr>
        <p:spPr>
          <a:xfrm>
            <a:off x="10972800" y="6400800"/>
            <a:ext cx="731520" cy="27432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2 / 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marL="0" indent="0">
              <a:buNone/>
            </a:pPr>
            <a:r>
              <a:rPr lang="en-US" sz="3200" b="1" dirty="0">
                <a:solidFill>
                  <a:srgbClr val="000000"/>
                </a:solidFill>
                <a:latin typeface="Calibri" pitchFamily="34" charset="0"/>
                <a:ea typeface="Calibri" pitchFamily="34" charset="-122"/>
                <a:cs typeface="Calibri" pitchFamily="34" charset="-120"/>
              </a:rPr>
              <a:t>Building a continuous futures price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endParaRPr lang="en-US" sz="1500" dirty="0"/>
          </a:p>
        </p:txBody>
      </p:sp>
      <p:pic>
        <p:nvPicPr>
          <p:cNvPr id="4" name="Image 0" descr="fut.png"/>
          <p:cNvPicPr>
            <a:picLocks noChangeAspect="1"/>
          </p:cNvPicPr>
          <p:nvPr/>
        </p:nvPicPr>
        <p:blipFill>
          <a:blip r:embed="rId3"/>
          <a:stretch>
            <a:fillRect/>
          </a:stretch>
        </p:blipFill>
        <p:spPr>
          <a:xfrm>
            <a:off x="548640" y="1600200"/>
            <a:ext cx="6583680" cy="2825496"/>
          </a:xfrm>
          <a:prstGeom prst="rect">
            <a:avLst/>
          </a:prstGeom>
        </p:spPr>
      </p:pic>
      <p:sp>
        <p:nvSpPr>
          <p:cNvPr id="5" name="Text 2"/>
          <p:cNvSpPr txBox="1"/>
          <p:nvPr/>
        </p:nvSpPr>
        <p:spPr>
          <a:xfrm>
            <a:off x="548640" y="4480560"/>
            <a:ext cx="6583680" cy="457200"/>
          </a:xfrm>
          <a:prstGeom prst="rect">
            <a:avLst/>
          </a:prstGeom>
          <a:noFill/>
          <a:ln/>
        </p:spPr>
        <p:txBody>
          <a:bodyPr wrap="square" lIns="0" tIns="0" rIns="0" bIns="0" rtlCol="0" anchor="ctr"/>
          <a:lstStyle/>
          <a:p>
            <a:pPr marL="0" indent="0">
              <a:buNone/>
            </a:pPr>
            <a:r>
              <a:rPr lang="en-US" sz="1100" dirty="0">
                <a:solidFill>
                  <a:srgbClr val="7F7F7F"/>
                </a:solidFill>
                <a:latin typeface="Calibri" pitchFamily="34" charset="0"/>
                <a:ea typeface="Calibri" pitchFamily="34" charset="-122"/>
                <a:cs typeface="Calibri" pitchFamily="34" charset="-120"/>
              </a:rPr>
              <a:t>Price of the contract held each day (Rs/quintal). Ticks mark the 36 contract switches; the dotted line marks the start of the test period.</a:t>
            </a:r>
            <a:endParaRPr lang="en-US" sz="1100" dirty="0"/>
          </a:p>
        </p:txBody>
      </p:sp>
      <p:sp>
        <p:nvSpPr>
          <p:cNvPr id="6" name="Text 3"/>
          <p:cNvSpPr txBox="1"/>
          <p:nvPr/>
        </p:nvSpPr>
        <p:spPr>
          <a:xfrm>
            <a:off x="7589520" y="1600200"/>
            <a:ext cx="4023360" cy="365760"/>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The problem</a:t>
            </a:r>
            <a:endParaRPr lang="en-US" sz="1700" dirty="0"/>
          </a:p>
        </p:txBody>
      </p:sp>
      <p:sp>
        <p:nvSpPr>
          <p:cNvPr id="7" name="Text 4"/>
          <p:cNvSpPr txBox="1"/>
          <p:nvPr/>
        </p:nvSpPr>
        <p:spPr>
          <a:xfrm>
            <a:off x="7589520" y="2011680"/>
            <a:ext cx="402336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04040"/>
                </a:solidFill>
                <a:latin typeface="Calibri" pitchFamily="34" charset="0"/>
                <a:ea typeface="Calibri" pitchFamily="34" charset="-122"/>
                <a:cs typeface="Calibri" pitchFamily="34" charset="-120"/>
              </a:rPr>
              <a:t>Each contract expires, so 3 years needs 36 contracts joined together.</a:t>
            </a:r>
            <a:endParaRPr lang="en-US" sz="1300" dirty="0"/>
          </a:p>
          <a:p>
            <a:pPr marL="342900" indent="-342900">
              <a:spcAft>
                <a:spcPts val="600"/>
              </a:spcAft>
              <a:buSzPct val="100000"/>
              <a:buChar char="•"/>
            </a:pPr>
            <a:r>
              <a:rPr lang="en-US" sz="1300" dirty="0">
                <a:solidFill>
                  <a:srgbClr val="404040"/>
                </a:solidFill>
                <a:latin typeface="Calibri" pitchFamily="34" charset="0"/>
                <a:ea typeface="Calibri" pitchFamily="34" charset="-122"/>
                <a:cs typeface="Calibri" pitchFamily="34" charset="-120"/>
              </a:rPr>
              <a:t>Joining creates artificial price jumps at each switch (paper p.6-7).</a:t>
            </a:r>
            <a:endParaRPr lang="en-US" sz="1300" dirty="0"/>
          </a:p>
          <a:p>
            <a:pPr marL="342900" indent="-342900">
              <a:spcAft>
                <a:spcPts val="600"/>
              </a:spcAft>
              <a:buSzPct val="100000"/>
              <a:buChar char="•"/>
            </a:pPr>
            <a:r>
              <a:rPr lang="en-US" sz="1300" dirty="0">
                <a:solidFill>
                  <a:srgbClr val="404040"/>
                </a:solidFill>
                <a:latin typeface="Calibri" pitchFamily="34" charset="0"/>
                <a:ea typeface="Calibri" pitchFamily="34" charset="-122"/>
                <a:cs typeface="Calibri" pitchFamily="34" charset="-120"/>
              </a:rPr>
              <a:t>Holding to expiry means thin trading and delivery risk (p.1).</a:t>
            </a:r>
            <a:endParaRPr lang="en-US" sz="1300" dirty="0"/>
          </a:p>
        </p:txBody>
      </p:sp>
      <p:sp>
        <p:nvSpPr>
          <p:cNvPr id="8" name="Text 5"/>
          <p:cNvSpPr txBox="1"/>
          <p:nvPr/>
        </p:nvSpPr>
        <p:spPr>
          <a:xfrm>
            <a:off x="7589520" y="3657600"/>
            <a:ext cx="4023360" cy="365760"/>
          </a:xfrm>
          <a:prstGeom prst="rect">
            <a:avLst/>
          </a:prstGeom>
          <a:noFill/>
          <a:ln/>
        </p:spPr>
        <p:txBody>
          <a:bodyPr wrap="square" lIns="0" tIns="0" rIns="0" bIns="0" rtlCol="0" anchor="ctr"/>
          <a:lstStyle/>
          <a:p>
            <a:pPr marL="0" indent="0">
              <a:buNone/>
            </a:pPr>
            <a:r>
              <a:rPr lang="en-US" sz="1700" b="1" dirty="0">
                <a:solidFill>
                  <a:srgbClr val="000000"/>
                </a:solidFill>
                <a:latin typeface="Calibri" pitchFamily="34" charset="0"/>
                <a:ea typeface="Calibri" pitchFamily="34" charset="-122"/>
                <a:cs typeface="Calibri" pitchFamily="34" charset="-120"/>
              </a:rPr>
              <a:t>What I did</a:t>
            </a:r>
            <a:endParaRPr lang="en-US" sz="1700" dirty="0"/>
          </a:p>
        </p:txBody>
      </p:sp>
      <p:sp>
        <p:nvSpPr>
          <p:cNvPr id="9" name="Text 6"/>
          <p:cNvSpPr txBox="1"/>
          <p:nvPr/>
        </p:nvSpPr>
        <p:spPr>
          <a:xfrm>
            <a:off x="7589520" y="4069080"/>
            <a:ext cx="4023360" cy="2103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04040"/>
                </a:solidFill>
                <a:latin typeface="Calibri" pitchFamily="34" charset="0"/>
                <a:ea typeface="Calibri" pitchFamily="34" charset="-122"/>
                <a:cs typeface="Calibri" pitchFamily="34" charset="-120"/>
              </a:rPr>
              <a:t>Switch when the next contract's open interest is larger (paper p.2).</a:t>
            </a:r>
            <a:endParaRPr lang="en-US" sz="1300" dirty="0"/>
          </a:p>
          <a:p>
            <a:pPr marL="342900" indent="-342900">
              <a:spcAft>
                <a:spcPts val="600"/>
              </a:spcAft>
              <a:buSzPct val="100000"/>
              <a:buChar char="•"/>
            </a:pPr>
            <a:r>
              <a:rPr lang="en-US" sz="1300" dirty="0">
                <a:solidFill>
                  <a:srgbClr val="404040"/>
                </a:solidFill>
                <a:latin typeface="Calibri" pitchFamily="34" charset="0"/>
                <a:ea typeface="Calibri" pitchFamily="34" charset="-122"/>
                <a:cs typeface="Calibri" pitchFamily="34" charset="-120"/>
              </a:rPr>
              <a:t>My additions: act the next day (no future information) and switch anyway with 7 trading days left (NCDEX delivery period).</a:t>
            </a:r>
            <a:endParaRPr lang="en-US" sz="1300" dirty="0"/>
          </a:p>
          <a:p>
            <a:pPr marL="342900" indent="-342900">
              <a:spcAft>
                <a:spcPts val="600"/>
              </a:spcAft>
              <a:buSzPct val="100000"/>
              <a:buChar char="•"/>
            </a:pPr>
            <a:r>
              <a:rPr lang="en-US" sz="1300" dirty="0">
                <a:solidFill>
                  <a:srgbClr val="404040"/>
                </a:solidFill>
                <a:latin typeface="Calibri" pitchFamily="34" charset="0"/>
                <a:ea typeface="Calibri" pitchFamily="34" charset="-122"/>
                <a:cs typeface="Calibri" pitchFamily="34" charset="-120"/>
              </a:rPr>
              <a:t>Every return uses one contract, so switch gaps never count as returns.</a:t>
            </a:r>
            <a:endParaRPr lang="en-US" sz="1300" dirty="0"/>
          </a:p>
        </p:txBody>
      </p:sp>
      <p:sp>
        <p:nvSpPr>
          <p:cNvPr id="10" name="Text 7"/>
          <p:cNvSpPr txBox="1"/>
          <p:nvPr/>
        </p:nvSpPr>
        <p:spPr>
          <a:xfrm>
            <a:off x="548640" y="5212080"/>
            <a:ext cx="6583680" cy="457200"/>
          </a:xfrm>
          <a:prstGeom prst="rect">
            <a:avLst/>
          </a:prstGeom>
          <a:noFill/>
          <a:ln/>
        </p:spPr>
        <p:txBody>
          <a:bodyPr wrap="square" lIns="0" tIns="0" rIns="0" bIns="0" rtlCol="0" anchor="ctr"/>
          <a:lstStyle/>
          <a:p>
            <a:pPr marL="0" indent="0">
              <a:buNone/>
            </a:pPr>
            <a:r>
              <a:rPr lang="en-US" sz="1300" i="1" dirty="0">
                <a:solidFill>
                  <a:srgbClr val="404040"/>
                </a:solidFill>
                <a:latin typeface="Calibri" pitchFamily="34" charset="0"/>
                <a:ea typeface="Calibri" pitchFamily="34" charset="-122"/>
                <a:cs typeface="Calibri" pitchFamily="34" charset="-120"/>
              </a:rPr>
              <a:t>Check: holding each contract to expiry instead cut out-of-sample effectiveness to 3.0%.</a:t>
            </a:r>
            <a:endParaRPr lang="en-US" sz="1300" dirty="0"/>
          </a:p>
        </p:txBody>
      </p:sp>
      <p:sp>
        <p:nvSpPr>
          <p:cNvPr id="11" name="Text 8"/>
          <p:cNvSpPr txBox="1"/>
          <p:nvPr/>
        </p:nvSpPr>
        <p:spPr>
          <a:xfrm>
            <a:off x="10972800" y="6400800"/>
            <a:ext cx="731520" cy="27432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3 / 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marL="0" indent="0">
              <a:buNone/>
            </a:pPr>
            <a:r>
              <a:rPr lang="en-US" sz="3200" b="1" dirty="0">
                <a:solidFill>
                  <a:srgbClr val="000000"/>
                </a:solidFill>
                <a:latin typeface="Calibri" pitchFamily="34" charset="0"/>
                <a:ea typeface="Calibri" pitchFamily="34" charset="-122"/>
                <a:cs typeface="Calibri" pitchFamily="34" charset="-120"/>
              </a:rPr>
              <a:t>The hedge and the results</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500" b="1" dirty="0">
                <a:solidFill>
                  <a:schemeClr val="tx1">
                    <a:lumMod val="95000"/>
                    <a:lumOff val="5000"/>
                  </a:schemeClr>
                </a:solidFill>
                <a:latin typeface="Calibri" pitchFamily="34" charset="0"/>
                <a:ea typeface="Calibri" pitchFamily="34" charset="-122"/>
                <a:cs typeface="Calibri" pitchFamily="34" charset="-120"/>
              </a:rPr>
              <a:t>Buyukkara, Kucukozmen and Uysal (2022)</a:t>
            </a:r>
            <a:endParaRPr lang="en-US" sz="1500" b="1" dirty="0">
              <a:solidFill>
                <a:schemeClr val="tx1">
                  <a:lumMod val="95000"/>
                  <a:lumOff val="5000"/>
                </a:schemeClr>
              </a:solidFill>
            </a:endParaRPr>
          </a:p>
        </p:txBody>
      </p:sp>
      <p:sp>
        <p:nvSpPr>
          <p:cNvPr id="4" name="Text 2"/>
          <p:cNvSpPr txBox="1"/>
          <p:nvPr/>
        </p:nvSpPr>
        <p:spPr>
          <a:xfrm>
            <a:off x="548640" y="1600200"/>
            <a:ext cx="4206240" cy="2011680"/>
          </a:xfrm>
          <a:prstGeom prst="rect">
            <a:avLst/>
          </a:prstGeom>
          <a:noFill/>
          <a:ln/>
        </p:spPr>
        <p:txBody>
          <a:bodyPr wrap="square" lIns="0" tIns="0" rIns="0" bIns="0" rtlCol="0" anchor="t"/>
          <a:lstStyle/>
          <a:p>
            <a:pPr marL="0" indent="0">
              <a:spcAft>
                <a:spcPts val="600"/>
              </a:spcAft>
              <a:buNone/>
            </a:pPr>
            <a:r>
              <a:rPr lang="en-US" sz="1400" dirty="0">
                <a:solidFill>
                  <a:srgbClr val="404040"/>
                </a:solidFill>
                <a:latin typeface="Calibri" pitchFamily="34" charset="0"/>
                <a:ea typeface="Calibri" pitchFamily="34" charset="-122"/>
                <a:cs typeface="Calibri" pitchFamily="34" charset="-120"/>
              </a:rPr>
              <a:t>Hedged return:  rH = rS - h × rF</a:t>
            </a:r>
            <a:endParaRPr lang="en-US" sz="1400" dirty="0"/>
          </a:p>
          <a:p>
            <a:pPr marL="0" indent="0">
              <a:spcAft>
                <a:spcPts val="600"/>
              </a:spcAft>
              <a:buNone/>
            </a:pPr>
            <a:r>
              <a:rPr lang="en-US" sz="1400" dirty="0">
                <a:solidFill>
                  <a:srgbClr val="404040"/>
                </a:solidFill>
                <a:latin typeface="Calibri" pitchFamily="34" charset="0"/>
                <a:ea typeface="Calibri" pitchFamily="34" charset="-122"/>
                <a:cs typeface="Calibri" pitchFamily="34" charset="-120"/>
              </a:rPr>
              <a:t>OLS:  slope of rS on rF (fixed h)</a:t>
            </a:r>
            <a:endParaRPr lang="en-US" sz="1400" dirty="0"/>
          </a:p>
          <a:p>
            <a:pPr marL="0" indent="0">
              <a:spcAft>
                <a:spcPts val="600"/>
              </a:spcAft>
              <a:buNone/>
            </a:pPr>
            <a:r>
              <a:rPr lang="en-US" sz="1400" dirty="0">
                <a:solidFill>
                  <a:srgbClr val="404040"/>
                </a:solidFill>
                <a:latin typeface="Calibri" pitchFamily="34" charset="0"/>
                <a:ea typeface="Calibri" pitchFamily="34" charset="-122"/>
                <a:cs typeface="Calibri" pitchFamily="34" charset="-120"/>
              </a:rPr>
              <a:t>Naive:  h = 1</a:t>
            </a:r>
            <a:endParaRPr lang="en-US" sz="1400" dirty="0"/>
          </a:p>
          <a:p>
            <a:pPr marL="0" indent="0">
              <a:spcAft>
                <a:spcPts val="600"/>
              </a:spcAft>
              <a:buNone/>
            </a:pPr>
            <a:r>
              <a:rPr lang="en-US" sz="1400" dirty="0">
                <a:solidFill>
                  <a:srgbClr val="404040"/>
                </a:solidFill>
                <a:latin typeface="Calibri" pitchFamily="34" charset="0"/>
                <a:ea typeface="Calibri" pitchFamily="34" charset="-122"/>
                <a:cs typeface="Calibri" pitchFamily="34" charset="-120"/>
              </a:rPr>
              <a:t>GARCH:  new h each day (diagonal VECH)</a:t>
            </a:r>
            <a:endParaRPr lang="en-US" sz="1400" dirty="0"/>
          </a:p>
          <a:p>
            <a:pPr marL="0" indent="0">
              <a:spcAft>
                <a:spcPts val="600"/>
              </a:spcAft>
              <a:buNone/>
            </a:pPr>
            <a:r>
              <a:rPr lang="en-US" sz="1400" dirty="0">
                <a:solidFill>
                  <a:srgbClr val="404040"/>
                </a:solidFill>
                <a:latin typeface="Calibri" pitchFamily="34" charset="0"/>
                <a:ea typeface="Calibri" pitchFamily="34" charset="-122"/>
                <a:cs typeface="Calibri" pitchFamily="34" charset="-120"/>
              </a:rPr>
              <a:t>HE = 1 - Var(hedged) / Var(unhedged)</a:t>
            </a:r>
            <a:endParaRPr lang="en-US" sz="1400" dirty="0"/>
          </a:p>
        </p:txBody>
      </p:sp>
      <p:sp>
        <p:nvSpPr>
          <p:cNvPr id="5" name="Shape 3"/>
          <p:cNvSpPr/>
          <p:nvPr/>
        </p:nvSpPr>
        <p:spPr>
          <a:xfrm>
            <a:off x="548640" y="3794760"/>
            <a:ext cx="4206240" cy="1417320"/>
          </a:xfrm>
          <a:prstGeom prst="rect">
            <a:avLst/>
          </a:prstGeom>
          <a:solidFill>
            <a:srgbClr val="F2F2F2"/>
          </a:solidFill>
          <a:ln w="12700">
            <a:solidFill>
              <a:srgbClr val="F2F2F2"/>
            </a:solidFill>
            <a:prstDash val="solid"/>
          </a:ln>
        </p:spPr>
      </p:sp>
      <p:sp>
        <p:nvSpPr>
          <p:cNvPr id="6" name="Text 4"/>
          <p:cNvSpPr txBox="1"/>
          <p:nvPr/>
        </p:nvSpPr>
        <p:spPr>
          <a:xfrm>
            <a:off x="777240" y="3840480"/>
            <a:ext cx="3840480" cy="1325880"/>
          </a:xfrm>
          <a:prstGeom prst="rect">
            <a:avLst/>
          </a:prstGeom>
          <a:noFill/>
          <a:ln/>
        </p:spPr>
        <p:txBody>
          <a:bodyPr wrap="square" lIns="0" tIns="0" rIns="0" bIns="0" rtlCol="0" anchor="ctr"/>
          <a:lstStyle/>
          <a:p>
            <a:pPr marL="0" indent="0">
              <a:buNone/>
            </a:pPr>
            <a:r>
              <a:rPr lang="en-US" sz="4400" b="1" dirty="0">
                <a:solidFill>
                  <a:srgbClr val="000000"/>
                </a:solidFill>
                <a:latin typeface="Calibri" pitchFamily="34" charset="0"/>
                <a:ea typeface="Calibri" pitchFamily="34" charset="-122"/>
                <a:cs typeface="Calibri" pitchFamily="34" charset="-120"/>
              </a:rPr>
              <a:t>0.614</a:t>
            </a:r>
            <a:endParaRPr lang="en-US" sz="4400" dirty="0"/>
          </a:p>
          <a:p>
            <a:pPr marL="0" indent="0">
              <a:buNone/>
            </a:pPr>
            <a:r>
              <a:rPr lang="en-US" sz="1300" dirty="0">
                <a:solidFill>
                  <a:srgbClr val="404040"/>
                </a:solidFill>
                <a:latin typeface="Calibri" pitchFamily="34" charset="0"/>
                <a:ea typeface="Calibri" pitchFamily="34" charset="-122"/>
                <a:cs typeface="Calibri" pitchFamily="34" charset="-120"/>
              </a:rPr>
              <a:t>OLS hedge ratio (t = 4.46): sell about Rs 61 of futures per Rs 100 of castor meal</a:t>
            </a:r>
            <a:endParaRPr lang="en-US" sz="4400" dirty="0"/>
          </a:p>
        </p:txBody>
      </p:sp>
      <p:graphicFrame>
        <p:nvGraphicFramePr>
          <p:cNvPr id="7" name="Chart 0"/>
          <p:cNvGraphicFramePr/>
          <p:nvPr/>
        </p:nvGraphicFramePr>
        <p:xfrm>
          <a:off x="5120640" y="1508760"/>
          <a:ext cx="64922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120640" y="4892040"/>
            <a:ext cx="6492240" cy="320040"/>
          </a:xfrm>
          <a:prstGeom prst="rect">
            <a:avLst/>
          </a:prstGeom>
          <a:noFill/>
          <a:ln/>
        </p:spPr>
        <p:txBody>
          <a:bodyPr wrap="square" lIns="0" tIns="0" rIns="0" bIns="0" rtlCol="0" anchor="ctr"/>
          <a:lstStyle/>
          <a:p>
            <a:pPr marL="0" indent="0">
              <a:buNone/>
            </a:pPr>
            <a:r>
              <a:rPr lang="en-US" sz="1600" b="1" dirty="0">
                <a:solidFill>
                  <a:srgbClr val="000000"/>
                </a:solidFill>
                <a:latin typeface="Calibri" pitchFamily="34" charset="0"/>
                <a:ea typeface="Calibri" pitchFamily="34" charset="-122"/>
                <a:cs typeface="Calibri" pitchFamily="34" charset="-120"/>
              </a:rPr>
              <a:t>What it shows</a:t>
            </a:r>
            <a:endParaRPr lang="en-US" sz="1600" dirty="0"/>
          </a:p>
        </p:txBody>
      </p:sp>
      <p:sp>
        <p:nvSpPr>
          <p:cNvPr id="9" name="Text 6"/>
          <p:cNvSpPr txBox="1"/>
          <p:nvPr/>
        </p:nvSpPr>
        <p:spPr>
          <a:xfrm>
            <a:off x="5120640" y="5257800"/>
            <a:ext cx="64922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404040"/>
                </a:solidFill>
                <a:latin typeface="Calibri" pitchFamily="34" charset="0"/>
                <a:ea typeface="Calibri" pitchFamily="34" charset="-122"/>
                <a:cs typeface="Calibri" pitchFamily="34" charset="-120"/>
              </a:rPr>
              <a:t>The link is real but weak: returns correlate at 0.26, and the hedge removes under 7% of the risk.</a:t>
            </a:r>
            <a:endParaRPr lang="en-US" sz="1300" dirty="0"/>
          </a:p>
          <a:p>
            <a:pPr marL="342900" indent="-342900">
              <a:spcAft>
                <a:spcPts val="400"/>
              </a:spcAft>
              <a:buSzPct val="100000"/>
              <a:buChar char="•"/>
            </a:pPr>
            <a:r>
              <a:rPr lang="en-US" sz="1300" dirty="0">
                <a:solidFill>
                  <a:srgbClr val="404040"/>
                </a:solidFill>
                <a:latin typeface="Calibri" pitchFamily="34" charset="0"/>
                <a:ea typeface="Calibri" pitchFamily="34" charset="-122"/>
                <a:cs typeface="Calibri" pitchFamily="34" charset="-120"/>
              </a:rPr>
              <a:t>Results are almost the same out of sample, so the hedge holds up on new data.</a:t>
            </a:r>
            <a:endParaRPr lang="en-US" sz="1300" dirty="0"/>
          </a:p>
          <a:p>
            <a:pPr marL="342900" indent="-342900">
              <a:spcAft>
                <a:spcPts val="400"/>
              </a:spcAft>
              <a:buSzPct val="100000"/>
              <a:buChar char="•"/>
            </a:pPr>
            <a:r>
              <a:rPr lang="en-US" sz="1300" dirty="0">
                <a:solidFill>
                  <a:srgbClr val="404040"/>
                </a:solidFill>
                <a:latin typeface="Calibri" pitchFamily="34" charset="0"/>
                <a:ea typeface="Calibri" pitchFamily="34" charset="-122"/>
                <a:cs typeface="Calibri" pitchFamily="34" charset="-120"/>
              </a:rPr>
              <a:t>GARCH adds under half a percentage point, which is not enough to prefer it over OLS.</a:t>
            </a:r>
            <a:endParaRPr lang="en-US" sz="1300" dirty="0"/>
          </a:p>
        </p:txBody>
      </p:sp>
      <p:sp>
        <p:nvSpPr>
          <p:cNvPr id="10" name="Text 7"/>
          <p:cNvSpPr txBox="1"/>
          <p:nvPr/>
        </p:nvSpPr>
        <p:spPr>
          <a:xfrm>
            <a:off x="548640" y="5440680"/>
            <a:ext cx="4206240" cy="731520"/>
          </a:xfrm>
          <a:prstGeom prst="rect">
            <a:avLst/>
          </a:prstGeom>
          <a:noFill/>
          <a:ln/>
        </p:spPr>
        <p:txBody>
          <a:bodyPr wrap="square" lIns="0" tIns="0" rIns="0" bIns="0" rtlCol="0" anchor="t"/>
          <a:lstStyle/>
          <a:p>
            <a:pPr marL="0" indent="0">
              <a:buNone/>
            </a:pPr>
            <a:r>
              <a:rPr lang="en-US" sz="1200" i="1" dirty="0">
                <a:solidFill>
                  <a:srgbClr val="7F7F7F"/>
                </a:solidFill>
                <a:latin typeface="Calibri" pitchFamily="34" charset="0"/>
                <a:ea typeface="Calibri" pitchFamily="34" charset="-122"/>
                <a:cs typeface="Calibri" pitchFamily="34" charset="-120"/>
              </a:rPr>
              <a:t>Limits: SEA prices are reported rates, not trades; costs, margins and 5-tonne lots are ignored.</a:t>
            </a:r>
            <a:endParaRPr lang="en-US" sz="1200" dirty="0"/>
          </a:p>
        </p:txBody>
      </p:sp>
      <p:sp>
        <p:nvSpPr>
          <p:cNvPr id="11" name="Text 8"/>
          <p:cNvSpPr txBox="1"/>
          <p:nvPr/>
        </p:nvSpPr>
        <p:spPr>
          <a:xfrm>
            <a:off x="10972800" y="6400800"/>
            <a:ext cx="731520" cy="27432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4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096548-771F-9E67-F4D7-1CB90DDA20BB}"/>
              </a:ext>
            </a:extLst>
          </p:cNvPr>
          <p:cNvSpPr txBox="1"/>
          <p:nvPr/>
        </p:nvSpPr>
        <p:spPr>
          <a:xfrm>
            <a:off x="4411579" y="2622884"/>
            <a:ext cx="3686137" cy="1015663"/>
          </a:xfrm>
          <a:prstGeom prst="rect">
            <a:avLst/>
          </a:prstGeom>
          <a:noFill/>
        </p:spPr>
        <p:txBody>
          <a:bodyPr wrap="none" rtlCol="0">
            <a:spAutoFit/>
          </a:bodyPr>
          <a:lstStyle/>
          <a:p>
            <a:pPr algn="ctr"/>
            <a:r>
              <a:rPr lang="en-IN" sz="6000" b="1" dirty="0"/>
              <a:t>Thank You.</a:t>
            </a:r>
          </a:p>
        </p:txBody>
      </p:sp>
    </p:spTree>
    <p:extLst>
      <p:ext uri="{BB962C8B-B14F-4D97-AF65-F5344CB8AC3E}">
        <p14:creationId xmlns:p14="http://schemas.microsoft.com/office/powerpoint/2010/main" val="958268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1344</Words>
  <Application>Microsoft Office PowerPoint</Application>
  <PresentationFormat>Widescreen</PresentationFormat>
  <Paragraphs>88</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Cross-Hedging Castor Meal with NCDEX Castor Seed Futures</dc:title>
  <dc:subject>PptxGenJS Presentation</dc:subject>
  <dc:creator>PptxGenJS</dc:creator>
  <cp:lastModifiedBy>Nandan Lunawat</cp:lastModifiedBy>
  <cp:revision>3</cp:revision>
  <dcterms:created xsi:type="dcterms:W3CDTF">2026-09-30T13:29:09Z</dcterms:created>
  <dcterms:modified xsi:type="dcterms:W3CDTF">2026-09-30T19:44:16Z</dcterms:modified>
</cp:coreProperties>
</file>